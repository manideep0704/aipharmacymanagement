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9"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1430000" cy="6445250"/>
  <p:notesSz cx="11430000" cy="6445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4" d="100"/>
          <a:sy n="74" d="100"/>
        </p:scale>
        <p:origin x="528"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28750" y="1054813"/>
            <a:ext cx="8572500" cy="2243902"/>
          </a:xfrm>
        </p:spPr>
        <p:txBody>
          <a:bodyPr anchor="b"/>
          <a:lstStyle>
            <a:lvl1pPr algn="ctr">
              <a:defRPr sz="5625"/>
            </a:lvl1pPr>
          </a:lstStyle>
          <a:p>
            <a:r>
              <a:rPr lang="en-US"/>
              <a:t>Click to edit Master title style</a:t>
            </a:r>
            <a:endParaRPr lang="en-US" dirty="0"/>
          </a:p>
        </p:txBody>
      </p:sp>
      <p:sp>
        <p:nvSpPr>
          <p:cNvPr id="3" name="Subtitle 2"/>
          <p:cNvSpPr>
            <a:spLocks noGrp="1"/>
          </p:cNvSpPr>
          <p:nvPr>
            <p:ph type="subTitle" idx="1"/>
          </p:nvPr>
        </p:nvSpPr>
        <p:spPr>
          <a:xfrm>
            <a:off x="1428750" y="3385249"/>
            <a:ext cx="8572500" cy="1556110"/>
          </a:xfrm>
        </p:spPr>
        <p:txBody>
          <a:bodyPr/>
          <a:lstStyle>
            <a:lvl1pPr marL="0" indent="0" algn="ctr">
              <a:buNone/>
              <a:defRPr sz="2250"/>
            </a:lvl1pPr>
            <a:lvl2pPr marL="428625" indent="0" algn="ctr">
              <a:buNone/>
              <a:defRPr sz="1875"/>
            </a:lvl2pPr>
            <a:lvl3pPr marL="857250" indent="0" algn="ctr">
              <a:buNone/>
              <a:defRPr sz="1688"/>
            </a:lvl3pPr>
            <a:lvl4pPr marL="1285875" indent="0" algn="ctr">
              <a:buNone/>
              <a:defRPr sz="1500"/>
            </a:lvl4pPr>
            <a:lvl5pPr marL="1714500" indent="0" algn="ctr">
              <a:buNone/>
              <a:defRPr sz="1500"/>
            </a:lvl5pPr>
            <a:lvl6pPr marL="2143125" indent="0" algn="ctr">
              <a:buNone/>
              <a:defRPr sz="1500"/>
            </a:lvl6pPr>
            <a:lvl7pPr marL="2571750" indent="0" algn="ctr">
              <a:buNone/>
              <a:defRPr sz="1500"/>
            </a:lvl7pPr>
            <a:lvl8pPr marL="3000375" indent="0" algn="ctr">
              <a:buNone/>
              <a:defRPr sz="1500"/>
            </a:lvl8pPr>
            <a:lvl9pPr marL="34290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68355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406480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79859" y="1606838"/>
            <a:ext cx="9858375" cy="2681044"/>
          </a:xfrm>
        </p:spPr>
        <p:txBody>
          <a:bodyPr anchor="b"/>
          <a:lstStyle>
            <a:lvl1pPr>
              <a:defRPr sz="5625"/>
            </a:lvl1pPr>
          </a:lstStyle>
          <a:p>
            <a:r>
              <a:rPr lang="en-US"/>
              <a:t>Click to edit Master title style</a:t>
            </a:r>
            <a:endParaRPr lang="en-US" dirty="0"/>
          </a:p>
        </p:txBody>
      </p:sp>
      <p:sp>
        <p:nvSpPr>
          <p:cNvPr id="3" name="Text Placeholder 2"/>
          <p:cNvSpPr>
            <a:spLocks noGrp="1"/>
          </p:cNvSpPr>
          <p:nvPr>
            <p:ph type="body" idx="1"/>
          </p:nvPr>
        </p:nvSpPr>
        <p:spPr>
          <a:xfrm>
            <a:off x="779859" y="4313246"/>
            <a:ext cx="9858375" cy="1409898"/>
          </a:xfrm>
        </p:spPr>
        <p:txBody>
          <a:bodyPr/>
          <a:lstStyle>
            <a:lvl1pPr marL="0" indent="0">
              <a:buNone/>
              <a:defRPr sz="2250">
                <a:solidFill>
                  <a:schemeClr val="tx1">
                    <a:tint val="75000"/>
                  </a:schemeClr>
                </a:solidFill>
              </a:defRPr>
            </a:lvl1pPr>
            <a:lvl2pPr marL="428625" indent="0">
              <a:buNone/>
              <a:defRPr sz="1875">
                <a:solidFill>
                  <a:schemeClr val="tx1">
                    <a:tint val="75000"/>
                  </a:schemeClr>
                </a:solidFill>
              </a:defRPr>
            </a:lvl2pPr>
            <a:lvl3pPr marL="857250" indent="0">
              <a:buNone/>
              <a:defRPr sz="1688">
                <a:solidFill>
                  <a:schemeClr val="tx1">
                    <a:tint val="75000"/>
                  </a:schemeClr>
                </a:solidFill>
              </a:defRPr>
            </a:lvl3pPr>
            <a:lvl4pPr marL="1285875" indent="0">
              <a:buNone/>
              <a:defRPr sz="1500">
                <a:solidFill>
                  <a:schemeClr val="tx1">
                    <a:tint val="75000"/>
                  </a:schemeClr>
                </a:solidFill>
              </a:defRPr>
            </a:lvl4pPr>
            <a:lvl5pPr marL="1714500" indent="0">
              <a:buNone/>
              <a:defRPr sz="1500">
                <a:solidFill>
                  <a:schemeClr val="tx1">
                    <a:tint val="75000"/>
                  </a:schemeClr>
                </a:solidFill>
              </a:defRPr>
            </a:lvl5pPr>
            <a:lvl6pPr marL="2143125" indent="0">
              <a:buNone/>
              <a:defRPr sz="1500">
                <a:solidFill>
                  <a:schemeClr val="tx1">
                    <a:tint val="75000"/>
                  </a:schemeClr>
                </a:solidFill>
              </a:defRPr>
            </a:lvl6pPr>
            <a:lvl7pPr marL="2571750" indent="0">
              <a:buNone/>
              <a:defRPr sz="1500">
                <a:solidFill>
                  <a:schemeClr val="tx1">
                    <a:tint val="75000"/>
                  </a:schemeClr>
                </a:solidFill>
              </a:defRPr>
            </a:lvl7pPr>
            <a:lvl8pPr marL="3000375" indent="0">
              <a:buNone/>
              <a:defRPr sz="1500">
                <a:solidFill>
                  <a:schemeClr val="tx1">
                    <a:tint val="75000"/>
                  </a:schemeClr>
                </a:solidFill>
              </a:defRPr>
            </a:lvl8pPr>
            <a:lvl9pPr marL="3429000" indent="0">
              <a:buNone/>
              <a:defRPr sz="15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80907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85813" y="1715749"/>
            <a:ext cx="4857750" cy="4089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786438" y="1715749"/>
            <a:ext cx="4857750" cy="4089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32676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87301" y="343150"/>
            <a:ext cx="9858375" cy="12457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787302" y="1579982"/>
            <a:ext cx="4835425" cy="774325"/>
          </a:xfrm>
        </p:spPr>
        <p:txBody>
          <a:bodyPr anchor="b"/>
          <a:lstStyle>
            <a:lvl1pPr marL="0" indent="0">
              <a:buNone/>
              <a:defRPr sz="2250" b="1"/>
            </a:lvl1pPr>
            <a:lvl2pPr marL="428625" indent="0">
              <a:buNone/>
              <a:defRPr sz="1875" b="1"/>
            </a:lvl2pPr>
            <a:lvl3pPr marL="857250" indent="0">
              <a:buNone/>
              <a:defRPr sz="1688" b="1"/>
            </a:lvl3pPr>
            <a:lvl4pPr marL="1285875" indent="0">
              <a:buNone/>
              <a:defRPr sz="1500" b="1"/>
            </a:lvl4pPr>
            <a:lvl5pPr marL="1714500" indent="0">
              <a:buNone/>
              <a:defRPr sz="1500" b="1"/>
            </a:lvl5pPr>
            <a:lvl6pPr marL="2143125" indent="0">
              <a:buNone/>
              <a:defRPr sz="1500" b="1"/>
            </a:lvl6pPr>
            <a:lvl7pPr marL="2571750" indent="0">
              <a:buNone/>
              <a:defRPr sz="1500" b="1"/>
            </a:lvl7pPr>
            <a:lvl8pPr marL="3000375" indent="0">
              <a:buNone/>
              <a:defRPr sz="1500" b="1"/>
            </a:lvl8pPr>
            <a:lvl9pPr marL="3429000" indent="0">
              <a:buNone/>
              <a:defRPr sz="1500" b="1"/>
            </a:lvl9pPr>
          </a:lstStyle>
          <a:p>
            <a:pPr lvl="0"/>
            <a:r>
              <a:rPr lang="en-US"/>
              <a:t>Click to edit Master text styles</a:t>
            </a:r>
          </a:p>
        </p:txBody>
      </p:sp>
      <p:sp>
        <p:nvSpPr>
          <p:cNvPr id="4" name="Content Placeholder 3"/>
          <p:cNvSpPr>
            <a:spLocks noGrp="1"/>
          </p:cNvSpPr>
          <p:nvPr>
            <p:ph sz="half" idx="2"/>
          </p:nvPr>
        </p:nvSpPr>
        <p:spPr>
          <a:xfrm>
            <a:off x="787302" y="2354307"/>
            <a:ext cx="4835425" cy="3462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786437" y="1579982"/>
            <a:ext cx="4859239" cy="774325"/>
          </a:xfrm>
        </p:spPr>
        <p:txBody>
          <a:bodyPr anchor="b"/>
          <a:lstStyle>
            <a:lvl1pPr marL="0" indent="0">
              <a:buNone/>
              <a:defRPr sz="2250" b="1"/>
            </a:lvl1pPr>
            <a:lvl2pPr marL="428625" indent="0">
              <a:buNone/>
              <a:defRPr sz="1875" b="1"/>
            </a:lvl2pPr>
            <a:lvl3pPr marL="857250" indent="0">
              <a:buNone/>
              <a:defRPr sz="1688" b="1"/>
            </a:lvl3pPr>
            <a:lvl4pPr marL="1285875" indent="0">
              <a:buNone/>
              <a:defRPr sz="1500" b="1"/>
            </a:lvl4pPr>
            <a:lvl5pPr marL="1714500" indent="0">
              <a:buNone/>
              <a:defRPr sz="1500" b="1"/>
            </a:lvl5pPr>
            <a:lvl6pPr marL="2143125" indent="0">
              <a:buNone/>
              <a:defRPr sz="1500" b="1"/>
            </a:lvl6pPr>
            <a:lvl7pPr marL="2571750" indent="0">
              <a:buNone/>
              <a:defRPr sz="1500" b="1"/>
            </a:lvl7pPr>
            <a:lvl8pPr marL="3000375" indent="0">
              <a:buNone/>
              <a:defRPr sz="1500" b="1"/>
            </a:lvl8pPr>
            <a:lvl9pPr marL="342900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5786437" y="2354307"/>
            <a:ext cx="4859239" cy="3462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5/18/2026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69616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5/18/2026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964141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5/18/2026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3506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7302" y="429683"/>
            <a:ext cx="3686472" cy="1503892"/>
          </a:xfrm>
        </p:spPr>
        <p:txBody>
          <a:bodyPr anchor="b"/>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4859238" y="927997"/>
            <a:ext cx="5786438" cy="4580305"/>
          </a:xfrm>
        </p:spPr>
        <p:txBody>
          <a:bodyPr/>
          <a:lstStyle>
            <a:lvl1pPr>
              <a:defRPr sz="3000"/>
            </a:lvl1pPr>
            <a:lvl2pPr>
              <a:defRPr sz="2625"/>
            </a:lvl2pPr>
            <a:lvl3pPr>
              <a:defRPr sz="2250"/>
            </a:lvl3pPr>
            <a:lvl4pPr>
              <a:defRPr sz="1875"/>
            </a:lvl4pPr>
            <a:lvl5pPr>
              <a:defRPr sz="1875"/>
            </a:lvl5pPr>
            <a:lvl6pPr>
              <a:defRPr sz="1875"/>
            </a:lvl6pPr>
            <a:lvl7pPr>
              <a:defRPr sz="1875"/>
            </a:lvl7pPr>
            <a:lvl8pPr>
              <a:defRPr sz="1875"/>
            </a:lvl8pPr>
            <a:lvl9pPr>
              <a:defRPr sz="18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87302" y="1933575"/>
            <a:ext cx="3686472" cy="3582187"/>
          </a:xfrm>
        </p:spPr>
        <p:txBody>
          <a:bodyPr/>
          <a:lstStyle>
            <a:lvl1pPr marL="0" indent="0">
              <a:buNone/>
              <a:defRPr sz="1500"/>
            </a:lvl1pPr>
            <a:lvl2pPr marL="428625" indent="0">
              <a:buNone/>
              <a:defRPr sz="1313"/>
            </a:lvl2pPr>
            <a:lvl3pPr marL="857250" indent="0">
              <a:buNone/>
              <a:defRPr sz="1125"/>
            </a:lvl3pPr>
            <a:lvl4pPr marL="1285875" indent="0">
              <a:buNone/>
              <a:defRPr sz="938"/>
            </a:lvl4pPr>
            <a:lvl5pPr marL="1714500" indent="0">
              <a:buNone/>
              <a:defRPr sz="938"/>
            </a:lvl5pPr>
            <a:lvl6pPr marL="2143125" indent="0">
              <a:buNone/>
              <a:defRPr sz="938"/>
            </a:lvl6pPr>
            <a:lvl7pPr marL="2571750" indent="0">
              <a:buNone/>
              <a:defRPr sz="938"/>
            </a:lvl7pPr>
            <a:lvl8pPr marL="3000375" indent="0">
              <a:buNone/>
              <a:defRPr sz="938"/>
            </a:lvl8pPr>
            <a:lvl9pPr marL="3429000" indent="0">
              <a:buNone/>
              <a:defRPr sz="938"/>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55392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7302" y="429683"/>
            <a:ext cx="3686472" cy="1503892"/>
          </a:xfrm>
        </p:spPr>
        <p:txBody>
          <a:bodyPr anchor="b"/>
          <a:lstStyle>
            <a:lvl1pPr>
              <a:defRPr sz="30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59238" y="927997"/>
            <a:ext cx="5786438" cy="4580305"/>
          </a:xfrm>
        </p:spPr>
        <p:txBody>
          <a:bodyPr anchor="t"/>
          <a:lstStyle>
            <a:lvl1pPr marL="0" indent="0">
              <a:buNone/>
              <a:defRPr sz="3000"/>
            </a:lvl1pPr>
            <a:lvl2pPr marL="428625" indent="0">
              <a:buNone/>
              <a:defRPr sz="2625"/>
            </a:lvl2pPr>
            <a:lvl3pPr marL="857250" indent="0">
              <a:buNone/>
              <a:defRPr sz="2250"/>
            </a:lvl3pPr>
            <a:lvl4pPr marL="1285875" indent="0">
              <a:buNone/>
              <a:defRPr sz="1875"/>
            </a:lvl4pPr>
            <a:lvl5pPr marL="1714500" indent="0">
              <a:buNone/>
              <a:defRPr sz="1875"/>
            </a:lvl5pPr>
            <a:lvl6pPr marL="2143125" indent="0">
              <a:buNone/>
              <a:defRPr sz="1875"/>
            </a:lvl6pPr>
            <a:lvl7pPr marL="2571750" indent="0">
              <a:buNone/>
              <a:defRPr sz="1875"/>
            </a:lvl7pPr>
            <a:lvl8pPr marL="3000375" indent="0">
              <a:buNone/>
              <a:defRPr sz="1875"/>
            </a:lvl8pPr>
            <a:lvl9pPr marL="3429000" indent="0">
              <a:buNone/>
              <a:defRPr sz="1875"/>
            </a:lvl9pPr>
          </a:lstStyle>
          <a:p>
            <a:r>
              <a:rPr lang="en-US"/>
              <a:t>Click icon to add picture</a:t>
            </a:r>
            <a:endParaRPr lang="en-US" dirty="0"/>
          </a:p>
        </p:txBody>
      </p:sp>
      <p:sp>
        <p:nvSpPr>
          <p:cNvPr id="4" name="Text Placeholder 3"/>
          <p:cNvSpPr>
            <a:spLocks noGrp="1"/>
          </p:cNvSpPr>
          <p:nvPr>
            <p:ph type="body" sz="half" idx="2"/>
          </p:nvPr>
        </p:nvSpPr>
        <p:spPr>
          <a:xfrm>
            <a:off x="787302" y="1933575"/>
            <a:ext cx="3686472" cy="3582187"/>
          </a:xfrm>
        </p:spPr>
        <p:txBody>
          <a:bodyPr/>
          <a:lstStyle>
            <a:lvl1pPr marL="0" indent="0">
              <a:buNone/>
              <a:defRPr sz="1500"/>
            </a:lvl1pPr>
            <a:lvl2pPr marL="428625" indent="0">
              <a:buNone/>
              <a:defRPr sz="1313"/>
            </a:lvl2pPr>
            <a:lvl3pPr marL="857250" indent="0">
              <a:buNone/>
              <a:defRPr sz="1125"/>
            </a:lvl3pPr>
            <a:lvl4pPr marL="1285875" indent="0">
              <a:buNone/>
              <a:defRPr sz="938"/>
            </a:lvl4pPr>
            <a:lvl5pPr marL="1714500" indent="0">
              <a:buNone/>
              <a:defRPr sz="938"/>
            </a:lvl5pPr>
            <a:lvl6pPr marL="2143125" indent="0">
              <a:buNone/>
              <a:defRPr sz="938"/>
            </a:lvl6pPr>
            <a:lvl7pPr marL="2571750" indent="0">
              <a:buNone/>
              <a:defRPr sz="938"/>
            </a:lvl7pPr>
            <a:lvl8pPr marL="3000375" indent="0">
              <a:buNone/>
              <a:defRPr sz="938"/>
            </a:lvl8pPr>
            <a:lvl9pPr marL="3429000" indent="0">
              <a:buNone/>
              <a:defRPr sz="938"/>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30337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77814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79594" y="343150"/>
            <a:ext cx="2464594" cy="546205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85813" y="343150"/>
            <a:ext cx="7250906" cy="54620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33658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0" i="0">
                <a:solidFill>
                  <a:srgbClr val="EFD5FA"/>
                </a:solidFill>
                <a:latin typeface="Tahoma"/>
                <a:cs typeface="Tahoma"/>
              </a:defRPr>
            </a:lvl1pPr>
          </a:lstStyle>
          <a:p>
            <a:endParaRPr/>
          </a:p>
        </p:txBody>
      </p:sp>
      <p:sp>
        <p:nvSpPr>
          <p:cNvPr id="3" name="Holder 3"/>
          <p:cNvSpPr>
            <a:spLocks noGrp="1"/>
          </p:cNvSpPr>
          <p:nvPr>
            <p:ph sz="half" idx="2"/>
          </p:nvPr>
        </p:nvSpPr>
        <p:spPr>
          <a:xfrm>
            <a:off x="571500" y="1482407"/>
            <a:ext cx="4972050" cy="425386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945633" y="1773237"/>
            <a:ext cx="4784725" cy="3627120"/>
          </a:xfrm>
          <a:prstGeom prst="rect">
            <a:avLst/>
          </a:prstGeom>
        </p:spPr>
        <p:txBody>
          <a:bodyPr wrap="square" lIns="0" tIns="0" rIns="0" bIns="0">
            <a:spAutoFit/>
          </a:bodyPr>
          <a:lstStyle>
            <a:lvl1pPr>
              <a:defRPr sz="1650" b="0" i="0">
                <a:solidFill>
                  <a:srgbClr val="C7CCD5"/>
                </a:solidFill>
                <a:latin typeface="Tahoma"/>
                <a:cs typeface="Tahoma"/>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459301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85813" y="343150"/>
            <a:ext cx="9858375" cy="12457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85813" y="1715749"/>
            <a:ext cx="9858375" cy="40894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813" y="5973792"/>
            <a:ext cx="2571750" cy="343150"/>
          </a:xfrm>
          <a:prstGeom prst="rect">
            <a:avLst/>
          </a:prstGeom>
        </p:spPr>
        <p:txBody>
          <a:bodyPr vert="horz" lIns="91440" tIns="45720" rIns="91440" bIns="45720" rtlCol="0" anchor="ctr"/>
          <a:lstStyle>
            <a:lvl1pPr algn="l">
              <a:defRPr sz="1125">
                <a:solidFill>
                  <a:schemeClr val="tx1">
                    <a:tint val="75000"/>
                  </a:schemeClr>
                </a:solidFill>
              </a:defRPr>
            </a:lvl1pPr>
          </a:lstStyle>
          <a:p>
            <a:fld id="{1D8BD707-D9CF-40AE-B4C6-C98DA3205C09}" type="datetimeFigureOut">
              <a:rPr lang="en-US" smtClean="0"/>
              <a:t>5/18/2026</a:t>
            </a:fld>
            <a:endParaRPr lang="en-US"/>
          </a:p>
        </p:txBody>
      </p:sp>
      <p:sp>
        <p:nvSpPr>
          <p:cNvPr id="5" name="Footer Placeholder 4"/>
          <p:cNvSpPr>
            <a:spLocks noGrp="1"/>
          </p:cNvSpPr>
          <p:nvPr>
            <p:ph type="ftr" sz="quarter" idx="3"/>
          </p:nvPr>
        </p:nvSpPr>
        <p:spPr>
          <a:xfrm>
            <a:off x="3786188" y="5973792"/>
            <a:ext cx="3857625" cy="343150"/>
          </a:xfrm>
          <a:prstGeom prst="rect">
            <a:avLst/>
          </a:prstGeom>
        </p:spPr>
        <p:txBody>
          <a:bodyPr vert="horz" lIns="91440" tIns="45720" rIns="91440" bIns="45720" rtlCol="0" anchor="ctr"/>
          <a:lstStyle>
            <a:lvl1pPr algn="ctr">
              <a:defRPr sz="112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072438" y="5973792"/>
            <a:ext cx="2571750" cy="343150"/>
          </a:xfrm>
          <a:prstGeom prst="rect">
            <a:avLst/>
          </a:prstGeom>
        </p:spPr>
        <p:txBody>
          <a:bodyPr vert="horz" lIns="91440" tIns="45720" rIns="91440" bIns="45720" rtlCol="0" anchor="ctr"/>
          <a:lstStyle>
            <a:lvl1pPr algn="r">
              <a:defRPr sz="1125">
                <a:solidFill>
                  <a:schemeClr val="tx1">
                    <a:tint val="75000"/>
                  </a:schemeClr>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3832429001"/>
      </p:ext>
    </p:extLst>
  </p:cSld>
  <p:clrMap bg1="dk1" tx1="lt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l" defTabSz="857250" rtl="0" eaLnBrk="1" latinLnBrk="0" hangingPunct="1">
        <a:lnSpc>
          <a:spcPct val="90000"/>
        </a:lnSpc>
        <a:spcBef>
          <a:spcPct val="0"/>
        </a:spcBef>
        <a:buNone/>
        <a:defRPr sz="4125" kern="1200">
          <a:solidFill>
            <a:schemeClr val="tx1"/>
          </a:solidFill>
          <a:latin typeface="+mj-lt"/>
          <a:ea typeface="+mj-ea"/>
          <a:cs typeface="+mj-cs"/>
        </a:defRPr>
      </a:lvl1pPr>
    </p:titleStyle>
    <p:bodyStyle>
      <a:lvl1pPr marL="214313" indent="-214313" algn="l" defTabSz="857250" rtl="0" eaLnBrk="1" latinLnBrk="0" hangingPunct="1">
        <a:lnSpc>
          <a:spcPct val="90000"/>
        </a:lnSpc>
        <a:spcBef>
          <a:spcPts val="938"/>
        </a:spcBef>
        <a:buFont typeface="Arial" panose="020B0604020202020204" pitchFamily="34" charset="0"/>
        <a:buChar char="•"/>
        <a:defRPr sz="2625" kern="1200">
          <a:solidFill>
            <a:schemeClr val="tx1"/>
          </a:solidFill>
          <a:latin typeface="+mn-lt"/>
          <a:ea typeface="+mn-ea"/>
          <a:cs typeface="+mn-cs"/>
        </a:defRPr>
      </a:lvl1pPr>
      <a:lvl2pPr marL="642938" indent="-214313" algn="l" defTabSz="857250" rtl="0" eaLnBrk="1" latinLnBrk="0" hangingPunct="1">
        <a:lnSpc>
          <a:spcPct val="90000"/>
        </a:lnSpc>
        <a:spcBef>
          <a:spcPts val="469"/>
        </a:spcBef>
        <a:buFont typeface="Arial" panose="020B0604020202020204" pitchFamily="34" charset="0"/>
        <a:buChar char="•"/>
        <a:defRPr sz="2250" kern="1200">
          <a:solidFill>
            <a:schemeClr val="tx1"/>
          </a:solidFill>
          <a:latin typeface="+mn-lt"/>
          <a:ea typeface="+mn-ea"/>
          <a:cs typeface="+mn-cs"/>
        </a:defRPr>
      </a:lvl2pPr>
      <a:lvl3pPr marL="1071563" indent="-214313" algn="l" defTabSz="857250" rtl="0" eaLnBrk="1" latinLnBrk="0" hangingPunct="1">
        <a:lnSpc>
          <a:spcPct val="90000"/>
        </a:lnSpc>
        <a:spcBef>
          <a:spcPts val="469"/>
        </a:spcBef>
        <a:buFont typeface="Arial" panose="020B0604020202020204" pitchFamily="34" charset="0"/>
        <a:buChar char="•"/>
        <a:defRPr sz="1875" kern="1200">
          <a:solidFill>
            <a:schemeClr val="tx1"/>
          </a:solidFill>
          <a:latin typeface="+mn-lt"/>
          <a:ea typeface="+mn-ea"/>
          <a:cs typeface="+mn-cs"/>
        </a:defRPr>
      </a:lvl3pPr>
      <a:lvl4pPr marL="1500188" indent="-214313" algn="l" defTabSz="857250"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4pPr>
      <a:lvl5pPr marL="1928813" indent="-214313" algn="l" defTabSz="857250"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5pPr>
      <a:lvl6pPr marL="2357438" indent="-214313" algn="l" defTabSz="857250"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6pPr>
      <a:lvl7pPr marL="2786063" indent="-214313" algn="l" defTabSz="857250"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7pPr>
      <a:lvl8pPr marL="3214688" indent="-214313" algn="l" defTabSz="857250"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8pPr>
      <a:lvl9pPr marL="3643313" indent="-214313" algn="l" defTabSz="857250" rtl="0" eaLnBrk="1" latinLnBrk="0" hangingPunct="1">
        <a:lnSpc>
          <a:spcPct val="90000"/>
        </a:lnSpc>
        <a:spcBef>
          <a:spcPts val="469"/>
        </a:spcBef>
        <a:buFont typeface="Arial" panose="020B0604020202020204" pitchFamily="34" charset="0"/>
        <a:buChar char="•"/>
        <a:defRPr sz="1688" kern="1200">
          <a:solidFill>
            <a:schemeClr val="tx1"/>
          </a:solidFill>
          <a:latin typeface="+mn-lt"/>
          <a:ea typeface="+mn-ea"/>
          <a:cs typeface="+mn-cs"/>
        </a:defRPr>
      </a:lvl9pPr>
    </p:bodyStyle>
    <p:otherStyle>
      <a:defPPr>
        <a:defRPr lang="en-US"/>
      </a:defPPr>
      <a:lvl1pPr marL="0" algn="l" defTabSz="857250" rtl="0" eaLnBrk="1" latinLnBrk="0" hangingPunct="1">
        <a:defRPr sz="1688" kern="1200">
          <a:solidFill>
            <a:schemeClr val="tx1"/>
          </a:solidFill>
          <a:latin typeface="+mn-lt"/>
          <a:ea typeface="+mn-ea"/>
          <a:cs typeface="+mn-cs"/>
        </a:defRPr>
      </a:lvl1pPr>
      <a:lvl2pPr marL="428625" algn="l" defTabSz="857250" rtl="0" eaLnBrk="1" latinLnBrk="0" hangingPunct="1">
        <a:defRPr sz="1688" kern="1200">
          <a:solidFill>
            <a:schemeClr val="tx1"/>
          </a:solidFill>
          <a:latin typeface="+mn-lt"/>
          <a:ea typeface="+mn-ea"/>
          <a:cs typeface="+mn-cs"/>
        </a:defRPr>
      </a:lvl2pPr>
      <a:lvl3pPr marL="857250" algn="l" defTabSz="857250" rtl="0" eaLnBrk="1" latinLnBrk="0" hangingPunct="1">
        <a:defRPr sz="1688" kern="1200">
          <a:solidFill>
            <a:schemeClr val="tx1"/>
          </a:solidFill>
          <a:latin typeface="+mn-lt"/>
          <a:ea typeface="+mn-ea"/>
          <a:cs typeface="+mn-cs"/>
        </a:defRPr>
      </a:lvl3pPr>
      <a:lvl4pPr marL="1285875" algn="l" defTabSz="857250" rtl="0" eaLnBrk="1" latinLnBrk="0" hangingPunct="1">
        <a:defRPr sz="1688" kern="1200">
          <a:solidFill>
            <a:schemeClr val="tx1"/>
          </a:solidFill>
          <a:latin typeface="+mn-lt"/>
          <a:ea typeface="+mn-ea"/>
          <a:cs typeface="+mn-cs"/>
        </a:defRPr>
      </a:lvl4pPr>
      <a:lvl5pPr marL="1714500" algn="l" defTabSz="857250" rtl="0" eaLnBrk="1" latinLnBrk="0" hangingPunct="1">
        <a:defRPr sz="1688" kern="1200">
          <a:solidFill>
            <a:schemeClr val="tx1"/>
          </a:solidFill>
          <a:latin typeface="+mn-lt"/>
          <a:ea typeface="+mn-ea"/>
          <a:cs typeface="+mn-cs"/>
        </a:defRPr>
      </a:lvl5pPr>
      <a:lvl6pPr marL="2143125" algn="l" defTabSz="857250" rtl="0" eaLnBrk="1" latinLnBrk="0" hangingPunct="1">
        <a:defRPr sz="1688" kern="1200">
          <a:solidFill>
            <a:schemeClr val="tx1"/>
          </a:solidFill>
          <a:latin typeface="+mn-lt"/>
          <a:ea typeface="+mn-ea"/>
          <a:cs typeface="+mn-cs"/>
        </a:defRPr>
      </a:lvl6pPr>
      <a:lvl7pPr marL="2571750" algn="l" defTabSz="857250" rtl="0" eaLnBrk="1" latinLnBrk="0" hangingPunct="1">
        <a:defRPr sz="1688" kern="1200">
          <a:solidFill>
            <a:schemeClr val="tx1"/>
          </a:solidFill>
          <a:latin typeface="+mn-lt"/>
          <a:ea typeface="+mn-ea"/>
          <a:cs typeface="+mn-cs"/>
        </a:defRPr>
      </a:lvl7pPr>
      <a:lvl8pPr marL="3000375" algn="l" defTabSz="857250" rtl="0" eaLnBrk="1" latinLnBrk="0" hangingPunct="1">
        <a:defRPr sz="1688" kern="1200">
          <a:solidFill>
            <a:schemeClr val="tx1"/>
          </a:solidFill>
          <a:latin typeface="+mn-lt"/>
          <a:ea typeface="+mn-ea"/>
          <a:cs typeface="+mn-cs"/>
        </a:defRPr>
      </a:lvl8pPr>
      <a:lvl9pPr marL="3429000" algn="l" defTabSz="857250" rtl="0" eaLnBrk="1" latinLnBrk="0" hangingPunct="1">
        <a:defRPr sz="16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7143750" y="253"/>
            <a:ext cx="4286250" cy="6438645"/>
          </a:xfrm>
          <a:prstGeom prst="rect">
            <a:avLst/>
          </a:prstGeom>
        </p:spPr>
      </p:pic>
      <p:sp>
        <p:nvSpPr>
          <p:cNvPr id="5" name="object 5" descr="$PPTXTitle"/>
          <p:cNvSpPr txBox="1">
            <a:spLocks noGrp="1"/>
          </p:cNvSpPr>
          <p:nvPr>
            <p:ph type="title"/>
          </p:nvPr>
        </p:nvSpPr>
        <p:spPr>
          <a:xfrm>
            <a:off x="587375" y="2225675"/>
            <a:ext cx="5200015" cy="1056700"/>
          </a:xfrm>
          <a:prstGeom prst="rect">
            <a:avLst/>
          </a:prstGeom>
        </p:spPr>
        <p:txBody>
          <a:bodyPr vert="horz" wrap="square" lIns="0" tIns="12065" rIns="0" bIns="0" rtlCol="0">
            <a:spAutoFit/>
          </a:bodyPr>
          <a:lstStyle/>
          <a:p>
            <a:pPr marL="12700" marR="5080">
              <a:lnSpc>
                <a:spcPct val="106300"/>
              </a:lnSpc>
              <a:spcBef>
                <a:spcPts val="95"/>
              </a:spcBef>
            </a:pPr>
            <a:r>
              <a:rPr lang="en-IN" spc="114" dirty="0"/>
              <a:t>Pharmacy Inventory Dashboard</a:t>
            </a:r>
            <a:endParaRPr spc="1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descr="$PPTXTitle"/>
          <p:cNvSpPr txBox="1">
            <a:spLocks noGrp="1"/>
          </p:cNvSpPr>
          <p:nvPr>
            <p:ph type="title"/>
          </p:nvPr>
        </p:nvSpPr>
        <p:spPr>
          <a:xfrm>
            <a:off x="587375" y="330838"/>
            <a:ext cx="5432425" cy="7933582"/>
          </a:xfrm>
          <a:prstGeom prst="rect">
            <a:avLst/>
          </a:prstGeom>
        </p:spPr>
        <p:txBody>
          <a:bodyPr vert="horz" wrap="square" lIns="0" tIns="15875" rIns="0" bIns="0" rtlCol="0">
            <a:spAutoFit/>
          </a:bodyPr>
          <a:lstStyle/>
          <a:p>
            <a:pPr marL="12700">
              <a:lnSpc>
                <a:spcPct val="100000"/>
              </a:lnSpc>
              <a:spcBef>
                <a:spcPts val="125"/>
              </a:spcBef>
            </a:pPr>
            <a:r>
              <a:rPr lang="en-IN" spc="215" dirty="0">
                <a:solidFill>
                  <a:schemeClr val="tx1">
                    <a:lumMod val="75000"/>
                  </a:schemeClr>
                </a:solidFill>
                <a:latin typeface="Sitka Heading Semibold" pitchFamily="2" charset="0"/>
              </a:rPr>
              <a:t>Introduction</a:t>
            </a:r>
            <a:br>
              <a:rPr lang="en-IN" spc="215" dirty="0">
                <a:solidFill>
                  <a:schemeClr val="tx1">
                    <a:lumMod val="75000"/>
                  </a:schemeClr>
                </a:solidFill>
                <a:latin typeface="Sitka Heading Semibold" pitchFamily="2" charset="0"/>
              </a:rPr>
            </a:br>
            <a:br>
              <a:rPr lang="en-IN" spc="215" dirty="0">
                <a:solidFill>
                  <a:schemeClr val="tx1">
                    <a:lumMod val="75000"/>
                  </a:schemeClr>
                </a:solidFill>
              </a:rPr>
            </a:br>
            <a:r>
              <a:rPr lang="en-US" sz="2400" dirty="0"/>
              <a:t>The Pharmacy Inventory Management System is a smart and efficient solution developed to manage medicine stock, sales, expiry tracking, and inventory operations in pharmacies. Traditional pharmacy management methods often rely on manual record maintenance, which can lead to stock errors, medicine wastage, and difficulties in tracking sales and expiry dates.</a:t>
            </a:r>
            <a:br>
              <a:rPr lang="en-IN" sz="2400" spc="215" dirty="0"/>
            </a:br>
            <a:r>
              <a:rPr lang="en-US" sz="2400" dirty="0">
                <a:solidFill>
                  <a:schemeClr val="bg1">
                    <a:lumMod val="75000"/>
                  </a:schemeClr>
                </a:solidFill>
              </a:rPr>
              <a:t>The Pharmacy Inventory Management System is a smart and efficient solution developed to manage medicine stock, sales, expiry tracking, and inventory operations in pharmacies. Traditional pharmacy management methods often rely on manual record maintenance, which can lead to stock errors, medicine wastage, and difficulties in tracking sales and expiry dates.</a:t>
            </a:r>
            <a:endParaRPr sz="2400" spc="175" dirty="0">
              <a:solidFill>
                <a:schemeClr val="bg1">
                  <a:lumMod val="75000"/>
                </a:schemeClr>
              </a:solidFill>
            </a:endParaRPr>
          </a:p>
        </p:txBody>
      </p:sp>
      <p:sp>
        <p:nvSpPr>
          <p:cNvPr id="10" name="object 10"/>
          <p:cNvSpPr txBox="1"/>
          <p:nvPr/>
        </p:nvSpPr>
        <p:spPr>
          <a:xfrm>
            <a:off x="3816350" y="2632273"/>
            <a:ext cx="2451735" cy="219932"/>
          </a:xfrm>
          <a:prstGeom prst="rect">
            <a:avLst/>
          </a:prstGeom>
        </p:spPr>
        <p:txBody>
          <a:bodyPr vert="horz" wrap="square" lIns="0" tIns="12065" rIns="0" bIns="0" rtlCol="0">
            <a:spAutoFit/>
          </a:bodyPr>
          <a:lstStyle/>
          <a:p>
            <a:pPr marL="12700" algn="just">
              <a:lnSpc>
                <a:spcPct val="100000"/>
              </a:lnSpc>
              <a:spcBef>
                <a:spcPts val="95"/>
              </a:spcBef>
            </a:pPr>
            <a:r>
              <a:rPr sz="1350" spc="45" dirty="0">
                <a:solidFill>
                  <a:srgbClr val="C7CDD6"/>
                </a:solidFill>
                <a:latin typeface="Tahoma"/>
                <a:cs typeface="Tahoma"/>
              </a:rPr>
              <a:t>.</a:t>
            </a:r>
            <a:endParaRPr sz="1350" dirty="0">
              <a:latin typeface="Tahoma"/>
              <a:cs typeface="Tahoma"/>
            </a:endParaRPr>
          </a:p>
        </p:txBody>
      </p:sp>
      <p:pic>
        <p:nvPicPr>
          <p:cNvPr id="15" name="Picture 14" descr="Managing a modern pharmacy with modern technology">
            <a:extLst>
              <a:ext uri="{FF2B5EF4-FFF2-40B4-BE49-F238E27FC236}">
                <a16:creationId xmlns:a16="http://schemas.microsoft.com/office/drawing/2014/main" id="{75D40E62-7F11-942E-D692-782C5103D358}"/>
              </a:ext>
            </a:extLst>
          </p:cNvPr>
          <p:cNvPicPr>
            <a:picLocks noChangeAspect="1"/>
          </p:cNvPicPr>
          <p:nvPr/>
        </p:nvPicPr>
        <p:blipFill>
          <a:blip r:embed="rId2"/>
          <a:stretch>
            <a:fillRect/>
          </a:stretch>
        </p:blipFill>
        <p:spPr>
          <a:xfrm>
            <a:off x="6705600" y="435730"/>
            <a:ext cx="4419601" cy="4832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descr="$PPTXTitle"/>
          <p:cNvSpPr txBox="1">
            <a:spLocks noGrp="1"/>
          </p:cNvSpPr>
          <p:nvPr>
            <p:ph type="title"/>
          </p:nvPr>
        </p:nvSpPr>
        <p:spPr>
          <a:xfrm>
            <a:off x="5920930" y="1830022"/>
            <a:ext cx="5051870" cy="2618537"/>
          </a:xfrm>
          <a:prstGeom prst="rect">
            <a:avLst/>
          </a:prstGeom>
        </p:spPr>
        <p:txBody>
          <a:bodyPr vert="horz" wrap="square" lIns="0" tIns="14605" rIns="0" bIns="0" rtlCol="0">
            <a:spAutoFit/>
          </a:bodyPr>
          <a:lstStyle/>
          <a:p>
            <a:r>
              <a:rPr lang="en-US" sz="2800" b="1" dirty="0">
                <a:solidFill>
                  <a:schemeClr val="accent1">
                    <a:lumMod val="60000"/>
                    <a:lumOff val="40000"/>
                  </a:schemeClr>
                </a:solidFill>
              </a:rPr>
              <a:t>Problem Statement</a:t>
            </a:r>
            <a:br>
              <a:rPr lang="en-US" sz="2800" b="1" dirty="0">
                <a:solidFill>
                  <a:schemeClr val="bg1">
                    <a:lumMod val="85000"/>
                  </a:schemeClr>
                </a:solidFill>
              </a:rPr>
            </a:br>
            <a:br>
              <a:rPr lang="en-US" sz="1600" b="1" dirty="0"/>
            </a:br>
            <a:r>
              <a:rPr lang="en-US" sz="1600" dirty="0"/>
              <a:t>Manual inventory management leads to human errors. </a:t>
            </a:r>
            <a:br>
              <a:rPr lang="en-US" sz="1600" dirty="0"/>
            </a:br>
            <a:r>
              <a:rPr lang="en-US" sz="1600" dirty="0"/>
              <a:t>Maintaining medicine records manually is time-consuming. </a:t>
            </a:r>
            <a:br>
              <a:rPr lang="en-US" sz="1600" dirty="0"/>
            </a:br>
            <a:r>
              <a:rPr lang="en-US" sz="1600" dirty="0"/>
              <a:t>Difficult to track medicine expiry dates. </a:t>
            </a:r>
            <a:br>
              <a:rPr lang="en-US" sz="1600" dirty="0"/>
            </a:br>
            <a:r>
              <a:rPr lang="en-US" sz="1600" dirty="0"/>
              <a:t>Expired medicines may cause financial loss and wastage. </a:t>
            </a:r>
            <a:br>
              <a:rPr lang="en-US" sz="1600" dirty="0"/>
            </a:br>
            <a:r>
              <a:rPr lang="en-US" sz="1600" dirty="0"/>
              <a:t>Lack of real-time stock monitoring. </a:t>
            </a:r>
            <a:br>
              <a:rPr lang="en-US" sz="1600" dirty="0"/>
            </a:br>
            <a:r>
              <a:rPr lang="en-US" sz="1600" dirty="0"/>
              <a:t>Frequent stock shortages and overstocking issues. </a:t>
            </a:r>
            <a:br>
              <a:rPr lang="en-US" sz="1600" dirty="0"/>
            </a:br>
            <a:r>
              <a:rPr lang="en-US" sz="1600" dirty="0"/>
              <a:t>Difficult to analyze sales and inventory performance. </a:t>
            </a:r>
            <a:br>
              <a:rPr lang="en-US" sz="1600" dirty="0"/>
            </a:br>
            <a:r>
              <a:rPr lang="en-US" sz="1600" dirty="0"/>
              <a:t>Poor inventory management affects pharmacy profitability. </a:t>
            </a:r>
            <a:br>
              <a:rPr lang="en-US" sz="1600" dirty="0"/>
            </a:br>
            <a:endParaRPr sz="1600" spc="-10" dirty="0"/>
          </a:p>
        </p:txBody>
      </p:sp>
      <p:pic>
        <p:nvPicPr>
          <p:cNvPr id="11" name="object 3">
            <a:extLst>
              <a:ext uri="{FF2B5EF4-FFF2-40B4-BE49-F238E27FC236}">
                <a16:creationId xmlns:a16="http://schemas.microsoft.com/office/drawing/2014/main" id="{A1E84A66-6611-ED90-50F5-C1E871993B82}"/>
              </a:ext>
            </a:extLst>
          </p:cNvPr>
          <p:cNvPicPr/>
          <p:nvPr/>
        </p:nvPicPr>
        <p:blipFill>
          <a:blip r:embed="rId2" cstate="print"/>
          <a:stretch>
            <a:fillRect/>
          </a:stretch>
        </p:blipFill>
        <p:spPr>
          <a:xfrm>
            <a:off x="990600" y="1003299"/>
            <a:ext cx="4285615" cy="4657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1430000" cy="6438900"/>
          </a:xfrm>
          <a:custGeom>
            <a:avLst/>
            <a:gdLst/>
            <a:ahLst/>
            <a:cxnLst/>
            <a:rect l="l" t="t" r="r" b="b"/>
            <a:pathLst>
              <a:path w="11430000" h="6438900">
                <a:moveTo>
                  <a:pt x="11429999" y="6438899"/>
                </a:moveTo>
                <a:lnTo>
                  <a:pt x="0" y="6438899"/>
                </a:lnTo>
                <a:lnTo>
                  <a:pt x="0" y="0"/>
                </a:lnTo>
                <a:lnTo>
                  <a:pt x="11429999" y="0"/>
                </a:lnTo>
                <a:lnTo>
                  <a:pt x="11429999" y="6438899"/>
                </a:lnTo>
                <a:close/>
              </a:path>
            </a:pathLst>
          </a:custGeom>
          <a:solidFill>
            <a:srgbClr val="242429"/>
          </a:solidFill>
        </p:spPr>
        <p:txBody>
          <a:bodyPr wrap="square" lIns="0" tIns="0" rIns="0" bIns="0" rtlCol="0"/>
          <a:lstStyle/>
          <a:p>
            <a:endParaRPr dirty="0"/>
          </a:p>
        </p:txBody>
      </p:sp>
      <p:sp>
        <p:nvSpPr>
          <p:cNvPr id="3" name="object 3" descr="$PPTXTitle"/>
          <p:cNvSpPr txBox="1">
            <a:spLocks noGrp="1"/>
          </p:cNvSpPr>
          <p:nvPr>
            <p:ph type="title"/>
          </p:nvPr>
        </p:nvSpPr>
        <p:spPr>
          <a:xfrm>
            <a:off x="587374" y="625475"/>
            <a:ext cx="9600565" cy="5136663"/>
          </a:xfrm>
          <a:prstGeom prst="rect">
            <a:avLst/>
          </a:prstGeom>
        </p:spPr>
        <p:txBody>
          <a:bodyPr vert="horz" wrap="square" lIns="0" tIns="263525" rIns="0" bIns="0" rtlCol="0">
            <a:spAutoFit/>
          </a:bodyPr>
          <a:lstStyle/>
          <a:p>
            <a:r>
              <a:rPr lang="en-US" b="1" dirty="0">
                <a:solidFill>
                  <a:schemeClr val="tx2">
                    <a:lumMod val="60000"/>
                    <a:lumOff val="40000"/>
                  </a:schemeClr>
                </a:solidFill>
              </a:rPr>
              <a:t>Project Objectives</a:t>
            </a:r>
            <a:br>
              <a:rPr lang="en-US" b="1" dirty="0">
                <a:solidFill>
                  <a:schemeClr val="tx2">
                    <a:lumMod val="60000"/>
                    <a:lumOff val="40000"/>
                  </a:schemeClr>
                </a:solidFill>
              </a:rPr>
            </a:br>
            <a:br>
              <a:rPr lang="en-US" b="1" dirty="0"/>
            </a:br>
            <a:r>
              <a:rPr lang="en-US" sz="2400" dirty="0"/>
              <a:t>Real-time stock monitoring </a:t>
            </a:r>
            <a:br>
              <a:rPr lang="en-US" sz="2400" dirty="0"/>
            </a:br>
            <a:r>
              <a:rPr lang="en-US" sz="2400" dirty="0"/>
              <a:t>Sales and revenue tracking </a:t>
            </a:r>
            <a:br>
              <a:rPr lang="en-US" sz="2400" dirty="0"/>
            </a:br>
            <a:r>
              <a:rPr lang="en-US" sz="2400" dirty="0"/>
              <a:t>Expiry medicine management </a:t>
            </a:r>
            <a:br>
              <a:rPr lang="en-US" sz="2400" dirty="0"/>
            </a:br>
            <a:r>
              <a:rPr lang="en-US" sz="2400" dirty="0"/>
              <a:t>Reduce medicine wastage </a:t>
            </a:r>
            <a:br>
              <a:rPr lang="en-US" sz="2400" dirty="0"/>
            </a:br>
            <a:r>
              <a:rPr lang="en-US" sz="2400" dirty="0"/>
              <a:t>Improve inventory accuracy </a:t>
            </a:r>
            <a:br>
              <a:rPr lang="en-US" sz="2400" dirty="0"/>
            </a:br>
            <a:r>
              <a:rPr lang="en-US" sz="2400" dirty="0"/>
              <a:t>Analyze pharmacy performance using dashboards </a:t>
            </a:r>
            <a:br>
              <a:rPr lang="en-US" sz="2400" dirty="0"/>
            </a:br>
            <a:r>
              <a:rPr lang="en-US" sz="2400" dirty="0"/>
              <a:t>Better decision-making using analytics </a:t>
            </a:r>
            <a:br>
              <a:rPr lang="en-US" sz="2400" dirty="0"/>
            </a:br>
            <a:r>
              <a:rPr lang="en-US" sz="2400" dirty="0"/>
              <a:t>Increase pharmacy profitability </a:t>
            </a:r>
            <a:br>
              <a:rPr lang="en-US" sz="2400" dirty="0"/>
            </a:br>
            <a:r>
              <a:rPr lang="en-US" sz="2400" dirty="0"/>
              <a:t>Save time and reduce manual work</a:t>
            </a:r>
            <a:br>
              <a:rPr lang="en-US" sz="2400" dirty="0"/>
            </a:br>
            <a:endParaRPr sz="2400" spc="229" dirty="0"/>
          </a:p>
        </p:txBody>
      </p:sp>
      <p:pic>
        <p:nvPicPr>
          <p:cNvPr id="20" name="Picture 19" descr="inventory management concept. organize and control inventory of goods or products. list some boxes or inventory items in a warehouse. jobs and tasks. flat style design illustration">
            <a:extLst>
              <a:ext uri="{FF2B5EF4-FFF2-40B4-BE49-F238E27FC236}">
                <a16:creationId xmlns:a16="http://schemas.microsoft.com/office/drawing/2014/main" id="{5E02EDD4-BAFB-09B4-930C-D3FB2A0B5E3A}"/>
              </a:ext>
            </a:extLst>
          </p:cNvPr>
          <p:cNvPicPr>
            <a:picLocks noChangeAspect="1"/>
          </p:cNvPicPr>
          <p:nvPr/>
        </p:nvPicPr>
        <p:blipFill>
          <a:blip r:embed="rId2"/>
          <a:stretch>
            <a:fillRect/>
          </a:stretch>
        </p:blipFill>
        <p:spPr>
          <a:xfrm>
            <a:off x="6934200" y="34326"/>
            <a:ext cx="4453479" cy="33918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E7BD65CD-C0FC-7416-9444-2FEB087DD350}"/>
              </a:ext>
            </a:extLst>
          </p:cNvPr>
          <p:cNvSpPr txBox="1"/>
          <p:nvPr/>
        </p:nvSpPr>
        <p:spPr>
          <a:xfrm>
            <a:off x="381000" y="784225"/>
            <a:ext cx="5715000" cy="4001095"/>
          </a:xfrm>
          <a:prstGeom prst="rect">
            <a:avLst/>
          </a:prstGeom>
          <a:noFill/>
        </p:spPr>
        <p:txBody>
          <a:bodyPr wrap="square">
            <a:spAutoFit/>
          </a:bodyPr>
          <a:lstStyle/>
          <a:p>
            <a:pPr>
              <a:buNone/>
            </a:pPr>
            <a:r>
              <a:rPr lang="en-US" sz="2800" b="1" dirty="0"/>
              <a:t>Existing System</a:t>
            </a:r>
          </a:p>
          <a:p>
            <a:pPr>
              <a:buNone/>
            </a:pPr>
            <a:endParaRPr lang="en-US" sz="2800" b="1" dirty="0"/>
          </a:p>
          <a:p>
            <a:pPr>
              <a:buFont typeface="Arial" panose="020B0604020202020204" pitchFamily="34" charset="0"/>
              <a:buChar char="•"/>
            </a:pPr>
            <a:r>
              <a:rPr lang="en-US" dirty="0"/>
              <a:t>Pharmacies maintain records manually using paper or spreadsheets. </a:t>
            </a:r>
          </a:p>
          <a:p>
            <a:pPr>
              <a:buFont typeface="Arial" panose="020B0604020202020204" pitchFamily="34" charset="0"/>
              <a:buChar char="•"/>
            </a:pPr>
            <a:r>
              <a:rPr lang="en-US" dirty="0"/>
              <a:t>Inventory tracking is done without automation. </a:t>
            </a:r>
          </a:p>
          <a:p>
            <a:pPr>
              <a:buFont typeface="Arial" panose="020B0604020202020204" pitchFamily="34" charset="0"/>
              <a:buChar char="•"/>
            </a:pPr>
            <a:r>
              <a:rPr lang="en-US" dirty="0"/>
              <a:t>Medicine expiry dates are difficult to monitor. </a:t>
            </a:r>
          </a:p>
          <a:p>
            <a:pPr>
              <a:buFont typeface="Arial" panose="020B0604020202020204" pitchFamily="34" charset="0"/>
              <a:buChar char="•"/>
            </a:pPr>
            <a:r>
              <a:rPr lang="en-US" dirty="0"/>
              <a:t>Sales and stock updates take more time. </a:t>
            </a:r>
          </a:p>
          <a:p>
            <a:pPr>
              <a:buFont typeface="Arial" panose="020B0604020202020204" pitchFamily="34" charset="0"/>
              <a:buChar char="•"/>
            </a:pPr>
            <a:r>
              <a:rPr lang="en-US" dirty="0"/>
              <a:t>High chances of human errors in data entry. </a:t>
            </a:r>
          </a:p>
          <a:p>
            <a:pPr>
              <a:buFont typeface="Arial" panose="020B0604020202020204" pitchFamily="34" charset="0"/>
              <a:buChar char="•"/>
            </a:pPr>
            <a:r>
              <a:rPr lang="en-US" dirty="0"/>
              <a:t>Difficult to generate reports and business insights. </a:t>
            </a:r>
          </a:p>
          <a:p>
            <a:pPr>
              <a:buFont typeface="Arial" panose="020B0604020202020204" pitchFamily="34" charset="0"/>
              <a:buChar char="•"/>
            </a:pPr>
            <a:r>
              <a:rPr lang="en-US" dirty="0"/>
              <a:t>No real-time monitoring of stock and revenue. </a:t>
            </a:r>
          </a:p>
          <a:p>
            <a:pPr>
              <a:buFont typeface="Arial" panose="020B0604020202020204" pitchFamily="34" charset="0"/>
              <a:buChar char="•"/>
            </a:pPr>
            <a:r>
              <a:rPr lang="en-US" dirty="0"/>
              <a:t>Stock shortages and overstocking problems occur frequently. </a:t>
            </a:r>
          </a:p>
          <a:p>
            <a:pPr>
              <a:buFont typeface="Arial" panose="020B0604020202020204" pitchFamily="34" charset="0"/>
              <a:buChar char="•"/>
            </a:pPr>
            <a:r>
              <a:rPr lang="en-US" dirty="0"/>
              <a:t>Manual management reduces operational efficiency.</a:t>
            </a:r>
          </a:p>
        </p:txBody>
      </p:sp>
      <p:pic>
        <p:nvPicPr>
          <p:cNvPr id="31" name="Picture 30" descr="UK's drug regulator aims for acceptance in other nations">
            <a:extLst>
              <a:ext uri="{FF2B5EF4-FFF2-40B4-BE49-F238E27FC236}">
                <a16:creationId xmlns:a16="http://schemas.microsoft.com/office/drawing/2014/main" id="{087C2896-AA66-BEC9-E92E-1DF0EF83C47C}"/>
              </a:ext>
            </a:extLst>
          </p:cNvPr>
          <p:cNvPicPr>
            <a:picLocks noChangeAspect="1"/>
          </p:cNvPicPr>
          <p:nvPr/>
        </p:nvPicPr>
        <p:blipFill>
          <a:blip r:embed="rId2"/>
          <a:stretch>
            <a:fillRect/>
          </a:stretch>
        </p:blipFill>
        <p:spPr>
          <a:xfrm>
            <a:off x="5715001" y="1089025"/>
            <a:ext cx="5562600" cy="39433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53"/>
            <a:ext cx="4286250" cy="6438645"/>
          </a:xfrm>
          <a:prstGeom prst="rect">
            <a:avLst/>
          </a:prstGeom>
        </p:spPr>
      </p:pic>
      <p:sp>
        <p:nvSpPr>
          <p:cNvPr id="3" name="object 3" descr="$PPTXTitle"/>
          <p:cNvSpPr txBox="1">
            <a:spLocks noGrp="1"/>
          </p:cNvSpPr>
          <p:nvPr>
            <p:ph type="title"/>
          </p:nvPr>
        </p:nvSpPr>
        <p:spPr>
          <a:xfrm>
            <a:off x="4873625" y="230098"/>
            <a:ext cx="4359275" cy="5140510"/>
          </a:xfrm>
          <a:prstGeom prst="rect">
            <a:avLst/>
          </a:prstGeom>
        </p:spPr>
        <p:txBody>
          <a:bodyPr vert="horz" wrap="square" lIns="0" tIns="15875" rIns="0" bIns="0" rtlCol="0">
            <a:spAutoFit/>
          </a:bodyPr>
          <a:lstStyle/>
          <a:p>
            <a:br>
              <a:rPr lang="en-IN" sz="1600" spc="305" dirty="0"/>
            </a:br>
            <a:r>
              <a:rPr lang="en-US" sz="3200" b="1" dirty="0"/>
              <a:t>Proposed System</a:t>
            </a:r>
            <a:br>
              <a:rPr lang="en-US" sz="1600" b="1" dirty="0"/>
            </a:br>
            <a:br>
              <a:rPr lang="en-US" sz="1600" b="1" dirty="0"/>
            </a:br>
            <a:br>
              <a:rPr lang="en-US" sz="1800" b="1" dirty="0"/>
            </a:br>
            <a:r>
              <a:rPr lang="en-US" sz="1800" dirty="0"/>
              <a:t>A smart Pharmacy Inventory Management Dashboard is developed. </a:t>
            </a:r>
            <a:br>
              <a:rPr lang="en-US" sz="1800" dirty="0"/>
            </a:br>
            <a:r>
              <a:rPr lang="en-US" sz="1800" dirty="0"/>
              <a:t>Provides real-time monitoring of medicine stock and sales. </a:t>
            </a:r>
            <a:br>
              <a:rPr lang="en-US" sz="1800" dirty="0"/>
            </a:br>
            <a:r>
              <a:rPr lang="en-US" sz="1800" dirty="0"/>
              <a:t>Tracks expiry medicines and reduces wastage. </a:t>
            </a:r>
            <a:br>
              <a:rPr lang="en-US" sz="1800" dirty="0"/>
            </a:br>
            <a:r>
              <a:rPr lang="en-US" sz="1800" dirty="0"/>
              <a:t>Generates sales, revenue, and inventory reports automatically. </a:t>
            </a:r>
            <a:br>
              <a:rPr lang="en-US" sz="1800" dirty="0"/>
            </a:br>
            <a:r>
              <a:rPr lang="en-US" sz="1800" dirty="0"/>
              <a:t>Uses interactive dashboards for better visualization. </a:t>
            </a:r>
            <a:br>
              <a:rPr lang="en-US" sz="1800" dirty="0"/>
            </a:br>
            <a:r>
              <a:rPr lang="en-US" sz="1800" dirty="0"/>
              <a:t>Helps in faster and smarter decision-making. </a:t>
            </a:r>
            <a:br>
              <a:rPr lang="en-US" sz="1800" dirty="0"/>
            </a:br>
            <a:r>
              <a:rPr lang="en-US" sz="1800" dirty="0"/>
              <a:t>Improves inventory accuracy and operational efficiency. </a:t>
            </a:r>
            <a:br>
              <a:rPr lang="en-US" sz="1800" dirty="0"/>
            </a:br>
            <a:r>
              <a:rPr lang="en-US" sz="1800" dirty="0"/>
              <a:t>Reduces manual work and human errors. </a:t>
            </a:r>
            <a:br>
              <a:rPr lang="en-US" sz="1800" dirty="0"/>
            </a:br>
            <a:r>
              <a:rPr lang="en-US" sz="1800" dirty="0"/>
              <a:t>Enhances pharmacy profitability and customer service.</a:t>
            </a:r>
            <a:br>
              <a:rPr lang="en-US" sz="1800" dirty="0"/>
            </a:br>
            <a:endParaRPr sz="1800" spc="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85813" y="618511"/>
            <a:ext cx="9858375" cy="695062"/>
          </a:xfrm>
          <a:prstGeom prst="rect">
            <a:avLst/>
          </a:prstGeom>
        </p:spPr>
        <p:txBody>
          <a:bodyPr vert="horz" wrap="square" lIns="0" tIns="177800" rIns="0" bIns="0" rtlCol="0">
            <a:spAutoFit/>
          </a:bodyPr>
          <a:lstStyle/>
          <a:p>
            <a:pPr marL="12700">
              <a:lnSpc>
                <a:spcPct val="100000"/>
              </a:lnSpc>
              <a:spcBef>
                <a:spcPts val="125"/>
              </a:spcBef>
            </a:pPr>
            <a:r>
              <a:rPr lang="en-IN" spc="85" dirty="0"/>
              <a:t>Technologies used</a:t>
            </a:r>
            <a:endParaRPr spc="85" dirty="0"/>
          </a:p>
        </p:txBody>
      </p:sp>
      <p:sp>
        <p:nvSpPr>
          <p:cNvPr id="8" name="object 8"/>
          <p:cNvSpPr txBox="1">
            <a:spLocks noGrp="1"/>
          </p:cNvSpPr>
          <p:nvPr>
            <p:ph sz="half" idx="2"/>
          </p:nvPr>
        </p:nvSpPr>
        <p:spPr>
          <a:xfrm>
            <a:off x="571500" y="1482407"/>
            <a:ext cx="4972050" cy="4564711"/>
          </a:xfrm>
          <a:prstGeom prst="rect">
            <a:avLst/>
          </a:prstGeom>
        </p:spPr>
        <p:txBody>
          <a:bodyPr vert="horz" wrap="square" lIns="0" tIns="17145" rIns="0" bIns="0" rtlCol="0">
            <a:spAutoFit/>
          </a:bodyPr>
          <a:lstStyle/>
          <a:p>
            <a:pPr marL="0" indent="0">
              <a:buNone/>
            </a:pPr>
            <a:endParaRPr lang="en-IN" sz="1800" b="1" dirty="0"/>
          </a:p>
          <a:p>
            <a:r>
              <a:rPr lang="en-IN" sz="1800" b="1" dirty="0"/>
              <a:t>Python</a:t>
            </a:r>
            <a:r>
              <a:rPr lang="en-IN" sz="1800" dirty="0"/>
              <a:t> – Used for data processing and backend logic </a:t>
            </a:r>
          </a:p>
          <a:p>
            <a:r>
              <a:rPr lang="en-IN" sz="1800" b="1" dirty="0"/>
              <a:t>Pandas</a:t>
            </a:r>
            <a:r>
              <a:rPr lang="en-IN" sz="1800" dirty="0"/>
              <a:t> – Used for data analysis and inventory management </a:t>
            </a:r>
          </a:p>
          <a:p>
            <a:r>
              <a:rPr lang="en-IN" sz="1800" b="1" dirty="0"/>
              <a:t>NumPy</a:t>
            </a:r>
            <a:r>
              <a:rPr lang="en-IN" sz="1800" dirty="0"/>
              <a:t> – Used for numerical operations and calculations </a:t>
            </a:r>
          </a:p>
          <a:p>
            <a:r>
              <a:rPr lang="en-IN" sz="1800" b="1" dirty="0" err="1"/>
              <a:t>Streamlit</a:t>
            </a:r>
            <a:r>
              <a:rPr lang="en-IN" sz="1800" b="1" dirty="0"/>
              <a:t> / Power BI</a:t>
            </a:r>
            <a:r>
              <a:rPr lang="en-IN" sz="1800" dirty="0"/>
              <a:t> – Used to create interactive dashboards </a:t>
            </a:r>
          </a:p>
          <a:p>
            <a:r>
              <a:rPr lang="en-IN" sz="1800" b="1" dirty="0"/>
              <a:t>Matplotlib &amp; Plotly</a:t>
            </a:r>
            <a:r>
              <a:rPr lang="en-IN" sz="1800" dirty="0"/>
              <a:t> – Used for charts and data visualization </a:t>
            </a:r>
          </a:p>
          <a:p>
            <a:r>
              <a:rPr lang="en-IN" sz="1800" b="1" dirty="0"/>
              <a:t>Excel / CSV Dataset</a:t>
            </a:r>
            <a:r>
              <a:rPr lang="en-IN" sz="1800" dirty="0"/>
              <a:t> – Used for storing pharmacy inventory data </a:t>
            </a:r>
          </a:p>
          <a:p>
            <a:r>
              <a:rPr lang="en-IN" sz="1800" b="1" dirty="0"/>
              <a:t>VS Code  </a:t>
            </a:r>
            <a:r>
              <a:rPr lang="en-IN" sz="1800" dirty="0"/>
              <a:t> – Used for project development and testing</a:t>
            </a:r>
          </a:p>
        </p:txBody>
      </p:sp>
      <p:pic>
        <p:nvPicPr>
          <p:cNvPr id="10" name="Picture 9" descr="About Python">
            <a:extLst>
              <a:ext uri="{FF2B5EF4-FFF2-40B4-BE49-F238E27FC236}">
                <a16:creationId xmlns:a16="http://schemas.microsoft.com/office/drawing/2014/main" id="{8770AC77-924B-992E-CB45-D99723E76B0C}"/>
              </a:ext>
            </a:extLst>
          </p:cNvPr>
          <p:cNvPicPr>
            <a:picLocks noChangeAspect="1"/>
          </p:cNvPicPr>
          <p:nvPr/>
        </p:nvPicPr>
        <p:blipFill>
          <a:blip r:embed="rId2"/>
          <a:stretch>
            <a:fillRect/>
          </a:stretch>
        </p:blipFill>
        <p:spPr>
          <a:xfrm>
            <a:off x="7360986" y="1196391"/>
            <a:ext cx="2786735" cy="1962150"/>
          </a:xfrm>
          <a:prstGeom prst="rect">
            <a:avLst/>
          </a:prstGeom>
        </p:spPr>
      </p:pic>
      <p:pic>
        <p:nvPicPr>
          <p:cNvPr id="11" name="Picture 10" descr="Python Tutorial: Streamlit | DataCamp">
            <a:extLst>
              <a:ext uri="{FF2B5EF4-FFF2-40B4-BE49-F238E27FC236}">
                <a16:creationId xmlns:a16="http://schemas.microsoft.com/office/drawing/2014/main" id="{D9D1F981-2296-B0B5-6A3D-FA2CF5E478A5}"/>
              </a:ext>
            </a:extLst>
          </p:cNvPr>
          <p:cNvPicPr>
            <a:picLocks noChangeAspect="1"/>
          </p:cNvPicPr>
          <p:nvPr/>
        </p:nvPicPr>
        <p:blipFill>
          <a:blip r:embed="rId3"/>
          <a:stretch>
            <a:fillRect/>
          </a:stretch>
        </p:blipFill>
        <p:spPr>
          <a:xfrm>
            <a:off x="7239000" y="3451225"/>
            <a:ext cx="3030708" cy="17738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53"/>
            <a:ext cx="4286250" cy="6438645"/>
          </a:xfrm>
          <a:prstGeom prst="rect">
            <a:avLst/>
          </a:prstGeom>
        </p:spPr>
      </p:pic>
      <p:sp>
        <p:nvSpPr>
          <p:cNvPr id="3" name="object 3" descr="$PPTXTitle"/>
          <p:cNvSpPr txBox="1">
            <a:spLocks noGrp="1"/>
          </p:cNvSpPr>
          <p:nvPr>
            <p:ph type="title"/>
          </p:nvPr>
        </p:nvSpPr>
        <p:spPr>
          <a:xfrm>
            <a:off x="4953000" y="417329"/>
            <a:ext cx="5334000" cy="3783215"/>
          </a:xfrm>
          <a:prstGeom prst="rect">
            <a:avLst/>
          </a:prstGeom>
        </p:spPr>
        <p:txBody>
          <a:bodyPr vert="horz" wrap="square" lIns="0" tIns="15875" rIns="0" bIns="0" rtlCol="0">
            <a:spAutoFit/>
          </a:bodyPr>
          <a:lstStyle/>
          <a:p>
            <a:r>
              <a:rPr lang="en-US" sz="4000" b="1" dirty="0"/>
              <a:t>Features</a:t>
            </a:r>
            <a:br>
              <a:rPr lang="en-US" sz="2800" b="1" dirty="0"/>
            </a:br>
            <a:br>
              <a:rPr lang="en-US" sz="2000" b="1" dirty="0"/>
            </a:br>
            <a:r>
              <a:rPr lang="en-US" sz="2400" dirty="0"/>
              <a:t>Real-time inventory monitoring </a:t>
            </a:r>
            <a:br>
              <a:rPr lang="en-US" sz="2400" dirty="0"/>
            </a:br>
            <a:r>
              <a:rPr lang="en-US" sz="2400" dirty="0"/>
              <a:t>Sales and revenue analysis </a:t>
            </a:r>
            <a:br>
              <a:rPr lang="en-US" sz="2400" dirty="0"/>
            </a:br>
            <a:r>
              <a:rPr lang="en-US" sz="2400" dirty="0"/>
              <a:t>Expiry medicine tracking </a:t>
            </a:r>
            <a:br>
              <a:rPr lang="en-US" sz="2400" dirty="0"/>
            </a:br>
            <a:r>
              <a:rPr lang="en-US" sz="2400" dirty="0"/>
              <a:t>Store-wise performance analysis </a:t>
            </a:r>
            <a:br>
              <a:rPr lang="en-US" sz="2400" dirty="0"/>
            </a:br>
            <a:r>
              <a:rPr lang="en-US" sz="2400" dirty="0"/>
              <a:t>Interactive charts and dashboards </a:t>
            </a:r>
            <a:br>
              <a:rPr lang="en-US" sz="2400" dirty="0"/>
            </a:br>
            <a:r>
              <a:rPr lang="en-US" sz="2400" dirty="0"/>
              <a:t>Top-selling medicine identification </a:t>
            </a:r>
            <a:br>
              <a:rPr lang="en-US" sz="2400" dirty="0"/>
            </a:br>
            <a:r>
              <a:rPr lang="en-US" sz="2400" dirty="0"/>
              <a:t>Category-wise inventory management </a:t>
            </a:r>
            <a:br>
              <a:rPr lang="en-US" sz="2400" dirty="0"/>
            </a:br>
            <a:r>
              <a:rPr lang="en-US" sz="2400" dirty="0"/>
              <a:t>Automated report generation</a:t>
            </a:r>
            <a:br>
              <a:rPr lang="en-US" sz="2000" dirty="0"/>
            </a:br>
            <a:endParaRPr sz="2000" spc="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87374" y="1444625"/>
            <a:ext cx="8286750" cy="539750"/>
          </a:xfrm>
          <a:prstGeom prst="rect">
            <a:avLst/>
          </a:prstGeom>
        </p:spPr>
        <p:txBody>
          <a:bodyPr vert="horz" wrap="square" lIns="0" tIns="15875" rIns="0" bIns="0" rtlCol="0">
            <a:spAutoFit/>
          </a:bodyPr>
          <a:lstStyle/>
          <a:p>
            <a:pPr marL="12700">
              <a:lnSpc>
                <a:spcPct val="100000"/>
              </a:lnSpc>
              <a:spcBef>
                <a:spcPts val="125"/>
              </a:spcBef>
            </a:pPr>
            <a:r>
              <a:rPr lang="en-IN" spc="170" dirty="0"/>
              <a:t>      Advantages</a:t>
            </a:r>
            <a:endParaRPr spc="170" dirty="0"/>
          </a:p>
        </p:txBody>
      </p:sp>
      <p:sp>
        <p:nvSpPr>
          <p:cNvPr id="18" name="TextBox 17">
            <a:extLst>
              <a:ext uri="{FF2B5EF4-FFF2-40B4-BE49-F238E27FC236}">
                <a16:creationId xmlns:a16="http://schemas.microsoft.com/office/drawing/2014/main" id="{5DDEB0C7-9175-DC42-67B9-B432FB4F74D2}"/>
              </a:ext>
            </a:extLst>
          </p:cNvPr>
          <p:cNvSpPr txBox="1"/>
          <p:nvPr/>
        </p:nvSpPr>
        <p:spPr>
          <a:xfrm>
            <a:off x="1447800" y="1929305"/>
            <a:ext cx="5562600" cy="3416320"/>
          </a:xfrm>
          <a:prstGeom prst="rect">
            <a:avLst/>
          </a:prstGeom>
          <a:noFill/>
        </p:spPr>
        <p:txBody>
          <a:bodyPr wrap="square">
            <a:spAutoFit/>
          </a:bodyPr>
          <a:lstStyle/>
          <a:p>
            <a:pPr>
              <a:buNone/>
            </a:pPr>
            <a:endParaRPr lang="en-US" sz="2400" b="1" dirty="0"/>
          </a:p>
          <a:p>
            <a:pPr>
              <a:buFont typeface="Arial" panose="020B0604020202020204" pitchFamily="34" charset="0"/>
              <a:buChar char="•"/>
            </a:pPr>
            <a:r>
              <a:rPr lang="en-US" sz="2400" dirty="0"/>
              <a:t>Reduces manual work </a:t>
            </a:r>
          </a:p>
          <a:p>
            <a:pPr>
              <a:buFont typeface="Arial" panose="020B0604020202020204" pitchFamily="34" charset="0"/>
              <a:buChar char="•"/>
            </a:pPr>
            <a:r>
              <a:rPr lang="en-US" sz="2400" dirty="0"/>
              <a:t>Improves inventory accuracy </a:t>
            </a:r>
          </a:p>
          <a:p>
            <a:pPr>
              <a:buFont typeface="Arial" panose="020B0604020202020204" pitchFamily="34" charset="0"/>
              <a:buChar char="•"/>
            </a:pPr>
            <a:r>
              <a:rPr lang="en-US" sz="2400" dirty="0"/>
              <a:t>Saves time in stock management </a:t>
            </a:r>
          </a:p>
          <a:p>
            <a:pPr>
              <a:buFont typeface="Arial" panose="020B0604020202020204" pitchFamily="34" charset="0"/>
              <a:buChar char="•"/>
            </a:pPr>
            <a:r>
              <a:rPr lang="en-US" sz="2400" dirty="0"/>
              <a:t>Reduces medicine wastage </a:t>
            </a:r>
          </a:p>
          <a:p>
            <a:pPr>
              <a:buFont typeface="Arial" panose="020B0604020202020204" pitchFamily="34" charset="0"/>
              <a:buChar char="•"/>
            </a:pPr>
            <a:r>
              <a:rPr lang="en-US" sz="2400" dirty="0"/>
              <a:t>Helps in faster decision-making </a:t>
            </a:r>
          </a:p>
          <a:p>
            <a:pPr>
              <a:buFont typeface="Arial" panose="020B0604020202020204" pitchFamily="34" charset="0"/>
              <a:buChar char="•"/>
            </a:pPr>
            <a:r>
              <a:rPr lang="en-US" sz="2400" dirty="0"/>
              <a:t>Improves pharmacy efficiency </a:t>
            </a:r>
          </a:p>
          <a:p>
            <a:pPr>
              <a:buFont typeface="Arial" panose="020B0604020202020204" pitchFamily="34" charset="0"/>
              <a:buChar char="•"/>
            </a:pPr>
            <a:r>
              <a:rPr lang="en-US" sz="2400" dirty="0"/>
              <a:t>Increases profitability </a:t>
            </a:r>
          </a:p>
          <a:p>
            <a:pPr>
              <a:buFont typeface="Arial" panose="020B0604020202020204" pitchFamily="34" charset="0"/>
              <a:buChar char="•"/>
            </a:pPr>
            <a:r>
              <a:rPr lang="en-US" sz="2400" dirty="0"/>
              <a:t>Provides better customer service</a:t>
            </a:r>
          </a:p>
        </p:txBody>
      </p:sp>
      <p:pic>
        <p:nvPicPr>
          <p:cNvPr id="19" name="Picture 18" descr="5 Reasons Why Your Business Needs an Inventory Management System">
            <a:extLst>
              <a:ext uri="{FF2B5EF4-FFF2-40B4-BE49-F238E27FC236}">
                <a16:creationId xmlns:a16="http://schemas.microsoft.com/office/drawing/2014/main" id="{82A11BD3-2C16-1844-FADB-4BF274D3DAAD}"/>
              </a:ext>
            </a:extLst>
          </p:cNvPr>
          <p:cNvPicPr>
            <a:picLocks noChangeAspect="1"/>
          </p:cNvPicPr>
          <p:nvPr/>
        </p:nvPicPr>
        <p:blipFill>
          <a:blip r:embed="rId2"/>
          <a:stretch>
            <a:fillRect/>
          </a:stretch>
        </p:blipFill>
        <p:spPr>
          <a:xfrm>
            <a:off x="6324600" y="1444625"/>
            <a:ext cx="4899000" cy="326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7129373" y="0"/>
            <a:ext cx="4286250" cy="6438645"/>
          </a:xfrm>
          <a:prstGeom prst="rect">
            <a:avLst/>
          </a:prstGeom>
        </p:spPr>
      </p:pic>
      <p:sp>
        <p:nvSpPr>
          <p:cNvPr id="5" name="object 5" descr="$PPTXTitle"/>
          <p:cNvSpPr txBox="1">
            <a:spLocks noGrp="1"/>
          </p:cNvSpPr>
          <p:nvPr>
            <p:ph type="title"/>
          </p:nvPr>
        </p:nvSpPr>
        <p:spPr>
          <a:xfrm>
            <a:off x="587375" y="834630"/>
            <a:ext cx="5589905" cy="4216795"/>
          </a:xfrm>
          <a:prstGeom prst="rect">
            <a:avLst/>
          </a:prstGeom>
        </p:spPr>
        <p:txBody>
          <a:bodyPr vert="horz" wrap="square" lIns="0" tIns="6350" rIns="0" bIns="0" rtlCol="0">
            <a:spAutoFit/>
          </a:bodyPr>
          <a:lstStyle/>
          <a:p>
            <a:r>
              <a:rPr lang="en-IN" sz="4000" b="1" dirty="0"/>
              <a:t>Future Scope</a:t>
            </a:r>
            <a:br>
              <a:rPr lang="en-IN" sz="4000" b="1" dirty="0"/>
            </a:br>
            <a:br>
              <a:rPr lang="en-IN" sz="2400" b="1" dirty="0"/>
            </a:br>
            <a:r>
              <a:rPr lang="en-IN" sz="2400" dirty="0"/>
              <a:t>AI-based demand prediction </a:t>
            </a:r>
            <a:br>
              <a:rPr lang="en-IN" sz="2400" dirty="0"/>
            </a:br>
            <a:r>
              <a:rPr lang="en-IN" sz="2400" dirty="0"/>
              <a:t>Barcode and QR code integration </a:t>
            </a:r>
            <a:br>
              <a:rPr lang="en-IN" sz="2400" dirty="0"/>
            </a:br>
            <a:r>
              <a:rPr lang="en-IN" sz="2400" dirty="0"/>
              <a:t>Cloud database connectivity </a:t>
            </a:r>
            <a:br>
              <a:rPr lang="en-IN" sz="2400" dirty="0"/>
            </a:br>
            <a:r>
              <a:rPr lang="en-IN" sz="2400" dirty="0"/>
              <a:t>Mobile application support </a:t>
            </a:r>
            <a:br>
              <a:rPr lang="en-IN" sz="2400" dirty="0"/>
            </a:br>
            <a:r>
              <a:rPr lang="en-IN" sz="2400" dirty="0"/>
              <a:t>Automatic medicine reorder system </a:t>
            </a:r>
            <a:br>
              <a:rPr lang="en-IN" sz="2400" dirty="0"/>
            </a:br>
            <a:r>
              <a:rPr lang="en-IN" sz="2400" dirty="0"/>
              <a:t>Integration with hospital management systems </a:t>
            </a:r>
            <a:br>
              <a:rPr lang="en-IN" sz="2400" dirty="0"/>
            </a:br>
            <a:r>
              <a:rPr lang="en-IN" sz="2400" dirty="0"/>
              <a:t>Advanced analytics using Machine Learning </a:t>
            </a:r>
            <a:br>
              <a:rPr lang="en-IN" sz="2400" dirty="0"/>
            </a:br>
            <a:r>
              <a:rPr lang="en-IN" sz="2400" dirty="0"/>
              <a:t>Multi-store centralized management</a:t>
            </a:r>
            <a:br>
              <a:rPr lang="en-IN" sz="2400" dirty="0"/>
            </a:br>
            <a:endParaRPr sz="2400" spc="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B8651-5BE8-CC53-636C-51B3380E5AEC}"/>
              </a:ext>
            </a:extLst>
          </p:cNvPr>
          <p:cNvSpPr>
            <a:spLocks noGrp="1"/>
          </p:cNvSpPr>
          <p:nvPr>
            <p:ph type="title"/>
          </p:nvPr>
        </p:nvSpPr>
        <p:spPr>
          <a:xfrm>
            <a:off x="587374" y="625475"/>
            <a:ext cx="9600565" cy="1031051"/>
          </a:xfrm>
        </p:spPr>
        <p:txBody>
          <a:bodyPr>
            <a:normAutofit fontScale="90000"/>
          </a:bodyPr>
          <a:lstStyle/>
          <a:p>
            <a:r>
              <a:rPr lang="en-IN" dirty="0"/>
              <a:t>Conclusion</a:t>
            </a:r>
            <a:br>
              <a:rPr lang="en-IN" dirty="0"/>
            </a:br>
            <a:endParaRPr lang="en-IN" dirty="0"/>
          </a:p>
        </p:txBody>
      </p:sp>
      <p:sp>
        <p:nvSpPr>
          <p:cNvPr id="3" name="Text Placeholder 2">
            <a:extLst>
              <a:ext uri="{FF2B5EF4-FFF2-40B4-BE49-F238E27FC236}">
                <a16:creationId xmlns:a16="http://schemas.microsoft.com/office/drawing/2014/main" id="{5A9DA956-7E59-2577-2783-F61E22BEC118}"/>
              </a:ext>
            </a:extLst>
          </p:cNvPr>
          <p:cNvSpPr>
            <a:spLocks noGrp="1"/>
          </p:cNvSpPr>
          <p:nvPr>
            <p:ph idx="1"/>
          </p:nvPr>
        </p:nvSpPr>
        <p:spPr>
          <a:xfrm>
            <a:off x="555626" y="1546225"/>
            <a:ext cx="10287000" cy="3242500"/>
          </a:xfrm>
        </p:spPr>
        <p:txBody>
          <a:bodyPr>
            <a:normAutofit fontScale="92500" lnSpcReduction="10000"/>
          </a:bodyPr>
          <a:lstStyle/>
          <a:p>
            <a:r>
              <a:rPr lang="en-US" sz="2400" dirty="0"/>
              <a:t>The Pharmacy Inventory Management System is an efficient solution for managing medicine stock, sales, and expiry tracking. The dashboard provides real-time insights that help pharmacies improve inventory control, reduce wastage, and increase profitability. By automating inventory operations and using data analytics, the system improves accuracy, saves time, and supports smarter business </a:t>
            </a:r>
            <a:r>
              <a:rPr lang="en-US" sz="2400" dirty="0" err="1"/>
              <a:t>decisions.</a:t>
            </a:r>
            <a:r>
              <a:rPr lang="en-US" sz="2400" dirty="0" err="1">
                <a:solidFill>
                  <a:schemeClr val="bg1">
                    <a:lumMod val="95000"/>
                  </a:schemeClr>
                </a:solidFill>
              </a:rPr>
              <a:t>ry</a:t>
            </a:r>
            <a:r>
              <a:rPr lang="en-US" sz="2400" dirty="0">
                <a:solidFill>
                  <a:schemeClr val="bg1">
                    <a:lumMod val="95000"/>
                  </a:schemeClr>
                </a:solidFill>
              </a:rPr>
              <a:t> Management System is an efficient and intelligent solution designed to simplify medicine stock management, billing, and inventory tracking in pharmacies and medical stores. This system helps reduce manual work, minimize human errors, and improve the overall accuracy of inventory operations. By providing real-time stock updates, expiry alerts, sales monitoring, and automated record maintenance, the system ensures smooth and reliable pharmacy management.</a:t>
            </a:r>
            <a:endParaRPr lang="en-IN" sz="2400" dirty="0">
              <a:solidFill>
                <a:schemeClr val="bg1">
                  <a:lumMod val="95000"/>
                </a:schemeClr>
              </a:solidFill>
            </a:endParaRPr>
          </a:p>
        </p:txBody>
      </p:sp>
      <p:pic>
        <p:nvPicPr>
          <p:cNvPr id="4" name="Picture 3" descr="Warehouse management innovative software in computer for real time monitoring">
            <a:extLst>
              <a:ext uri="{FF2B5EF4-FFF2-40B4-BE49-F238E27FC236}">
                <a16:creationId xmlns:a16="http://schemas.microsoft.com/office/drawing/2014/main" id="{08DEE07D-09B9-8FEA-A054-D87940873282}"/>
              </a:ext>
            </a:extLst>
          </p:cNvPr>
          <p:cNvPicPr>
            <a:picLocks noChangeAspect="1"/>
          </p:cNvPicPr>
          <p:nvPr/>
        </p:nvPicPr>
        <p:blipFill>
          <a:blip r:embed="rId2"/>
          <a:stretch>
            <a:fillRect/>
          </a:stretch>
        </p:blipFill>
        <p:spPr>
          <a:xfrm>
            <a:off x="6477000" y="3206437"/>
            <a:ext cx="4785245" cy="3071644"/>
          </a:xfrm>
          <a:prstGeom prst="rect">
            <a:avLst/>
          </a:prstGeom>
        </p:spPr>
      </p:pic>
    </p:spTree>
    <p:extLst>
      <p:ext uri="{BB962C8B-B14F-4D97-AF65-F5344CB8AC3E}">
        <p14:creationId xmlns:p14="http://schemas.microsoft.com/office/powerpoint/2010/main" val="1688796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101</TotalTime>
  <Words>714</Words>
  <Application>Microsoft Office PowerPoint</Application>
  <PresentationFormat>Custom</PresentationFormat>
  <Paragraphs>40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Sitka Heading Semibold</vt:lpstr>
      <vt:lpstr>Tahoma</vt:lpstr>
      <vt:lpstr>Office Theme</vt:lpstr>
      <vt:lpstr>Pharmacy Inventory Dashboard</vt:lpstr>
      <vt:lpstr>Introduction  The Pharmacy Inventory Management System is a smart and efficient solution developed to manage medicine stock, sales, expiry tracking, and inventory operations in pharmacies. Traditional pharmacy management methods often rely on manual record maintenance, which can lead to stock errors, medicine wastage, and difficulties in tracking sales and expiry dates. The Pharmacy Inventory Management System is a smart and efficient solution developed to manage medicine stock, sales, expiry tracking, and inventory operations in pharmacies. Traditional pharmacy management methods often rely on manual record maintenance, which can lead to stock errors, medicine wastage, and difficulties in tracking sales and expiry dates.</vt:lpstr>
      <vt:lpstr>Problem Statement  Manual inventory management leads to human errors.  Maintaining medicine records manually is time-consuming.  Difficult to track medicine expiry dates.  Expired medicines may cause financial loss and wastage.  Lack of real-time stock monitoring.  Frequent stock shortages and overstocking issues.  Difficult to analyze sales and inventory performance.  Poor inventory management affects pharmacy profitability.  </vt:lpstr>
      <vt:lpstr>Project Objectives  Real-time stock monitoring  Sales and revenue tracking  Expiry medicine management  Reduce medicine wastage  Improve inventory accuracy  Analyze pharmacy performance using dashboards  Better decision-making using analytics  Increase pharmacy profitability  Save time and reduce manual work </vt:lpstr>
      <vt:lpstr>PowerPoint Presentation</vt:lpstr>
      <vt:lpstr> Proposed System   A smart Pharmacy Inventory Management Dashboard is developed.  Provides real-time monitoring of medicine stock and sales.  Tracks expiry medicines and reduces wastage.  Generates sales, revenue, and inventory reports automatically.  Uses interactive dashboards for better visualization.  Helps in faster and smarter decision-making.  Improves inventory accuracy and operational efficiency.  Reduces manual work and human errors.  Enhances pharmacy profitability and customer service. </vt:lpstr>
      <vt:lpstr>Technologies used</vt:lpstr>
      <vt:lpstr>Features  Real-time inventory monitoring  Sales and revenue analysis  Expiry medicine tracking  Store-wise performance analysis  Interactive charts and dashboards  Top-selling medicine identification  Category-wise inventory management  Automated report generation </vt:lpstr>
      <vt:lpstr>      Advantages</vt:lpstr>
      <vt:lpstr>Future Scope  AI-based demand prediction  Barcode and QR code integration  Cloud database connectivity  Mobile application support  Automatic medicine reorder system  Integration with hospital management systems  Advanced analytics using Machine Learning  Multi-store centralized management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Bala Ankanna</dc:creator>
  <cp:lastModifiedBy>Bala Ankanna</cp:lastModifiedBy>
  <cp:revision>3</cp:revision>
  <dcterms:created xsi:type="dcterms:W3CDTF">2026-05-18T06:12:54Z</dcterms:created>
  <dcterms:modified xsi:type="dcterms:W3CDTF">2026-05-18T09:30:59Z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2026-05-18T00:00:00Z</vt:filetime>
  </property>
  <property fmtid="{D5CDD505-2E9C-101B-9397-08002B2CF9AE}" pid="4" name="Creator">
    <vt:lpwstr>pdf-lib (https://github.com/Hopding/pdf-lib)</vt:lpwstr>
  </property>
  <property fmtid="{D5CDD505-2E9C-101B-9397-08002B2CF9AE}" pid="5" name="LastSaved">
    <vt:filetime>2026-05-18T00:00:00Z</vt:filetime>
  </property>
  <property fmtid="{D5CDD505-2E9C-101B-9397-08002B2CF9AE}" pid="6" name="Producer">
    <vt:lpwstr>pdf-lib (https://github.com/Hopding/pdf-lib)</vt:lpwstr>
  </property>
</Properties>
</file>